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6576000" cy="29260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roske, Shelby" initials="KS" lastIdx="1" clrIdx="0">
    <p:extLst>
      <p:ext uri="{19B8F6BF-5375-455C-9EA6-DF929625EA0E}">
        <p15:presenceInfo xmlns:p15="http://schemas.microsoft.com/office/powerpoint/2012/main" userId="S::kroskesh@msu.edu::a4bff5e5-a848-403c-96de-e5f5a117da4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845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27" d="100"/>
          <a:sy n="27" d="100"/>
        </p:scale>
        <p:origin x="184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788749"/>
            <a:ext cx="31089600" cy="10187093"/>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5368695"/>
            <a:ext cx="27432000" cy="7064585"/>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BD4D5E-4C6F-411B-B438-126B1E984C38}" type="datetimeFigureOut">
              <a:rPr lang="en-US" smtClean="0"/>
              <a:t>7/23/24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54119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D4D5E-4C6F-411B-B438-126B1E984C38}" type="datetimeFigureOut">
              <a:rPr lang="en-US" smtClean="0"/>
              <a:t>7/23/24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556800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7294888"/>
            <a:ext cx="31546800" cy="1217167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9581715"/>
            <a:ext cx="31546800" cy="6400798"/>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BD4D5E-4C6F-411B-B438-126B1E984C38}" type="datetimeFigureOut">
              <a:rPr lang="en-US" smtClean="0"/>
              <a:t>7/23/24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266149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789333"/>
            <a:ext cx="1554480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789333"/>
            <a:ext cx="1554480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BD4D5E-4C6F-411B-B438-126B1E984C38}" type="datetimeFigureOut">
              <a:rPr lang="en-US" smtClean="0"/>
              <a:t>7/23/24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92063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557873"/>
            <a:ext cx="31546800" cy="565573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7172962"/>
            <a:ext cx="15473360"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688320"/>
            <a:ext cx="15473360"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7172962"/>
            <a:ext cx="15549564"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688320"/>
            <a:ext cx="15549564"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BD4D5E-4C6F-411B-B438-126B1E984C38}" type="datetimeFigureOut">
              <a:rPr lang="en-US" smtClean="0"/>
              <a:t>7/23/24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4022765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BD4D5E-4C6F-411B-B438-126B1E984C38}" type="datetimeFigureOut">
              <a:rPr lang="en-US" smtClean="0"/>
              <a:t>7/23/24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07296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D4D5E-4C6F-411B-B438-126B1E984C38}" type="datetimeFigureOut">
              <a:rPr lang="en-US" smtClean="0"/>
              <a:t>7/23/24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390866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4213020"/>
            <a:ext cx="18516600" cy="2079413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4EBD4D5E-4C6F-411B-B438-126B1E984C38}" type="datetimeFigureOut">
              <a:rPr lang="en-US" smtClean="0"/>
              <a:t>7/23/24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38469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4213020"/>
            <a:ext cx="18516600" cy="2079413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4EBD4D5E-4C6F-411B-B438-126B1E984C38}" type="datetimeFigureOut">
              <a:rPr lang="en-US" smtClean="0"/>
              <a:t>7/23/24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2821612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D4D5E-4C6F-411B-B438-126B1E984C38}" type="datetimeFigureOut">
              <a:rPr lang="en-US" smtClean="0"/>
              <a:t>7/23/24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46718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557867"/>
            <a:ext cx="7886700" cy="2479717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1557867"/>
            <a:ext cx="23202900" cy="2479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D4D5E-4C6F-411B-B438-126B1E984C38}" type="datetimeFigureOut">
              <a:rPr lang="en-US" smtClean="0"/>
              <a:t>7/23/24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8CAC2F-9D0C-4F7D-BB46-97F5333FB40C}" type="slidenum">
              <a:rPr lang="en-US" smtClean="0"/>
              <a:t>‹#›</a:t>
            </a:fld>
            <a:endParaRPr lang="en-US"/>
          </a:p>
        </p:txBody>
      </p:sp>
    </p:spTree>
    <p:extLst>
      <p:ext uri="{BB962C8B-B14F-4D97-AF65-F5344CB8AC3E}">
        <p14:creationId xmlns:p14="http://schemas.microsoft.com/office/powerpoint/2010/main" val="1906242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557873"/>
            <a:ext cx="31546800" cy="56557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789333"/>
            <a:ext cx="31546800" cy="185657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7120433"/>
            <a:ext cx="8229600" cy="1557867"/>
          </a:xfrm>
          <a:prstGeom prst="rect">
            <a:avLst/>
          </a:prstGeom>
        </p:spPr>
        <p:txBody>
          <a:bodyPr vert="horz" lIns="91440" tIns="45720" rIns="91440" bIns="45720" rtlCol="0" anchor="ctr"/>
          <a:lstStyle>
            <a:lvl1pPr algn="l">
              <a:defRPr sz="4800">
                <a:solidFill>
                  <a:schemeClr val="tx1">
                    <a:tint val="75000"/>
                  </a:schemeClr>
                </a:solidFill>
              </a:defRPr>
            </a:lvl1pPr>
          </a:lstStyle>
          <a:p>
            <a:fld id="{4EBD4D5E-4C6F-411B-B438-126B1E984C38}" type="datetimeFigureOut">
              <a:rPr lang="en-US" smtClean="0"/>
              <a:t>7/23/24</a:t>
            </a:fld>
            <a:endParaRPr lang="en-US"/>
          </a:p>
        </p:txBody>
      </p:sp>
      <p:sp>
        <p:nvSpPr>
          <p:cNvPr id="5" name="Footer Placeholder 4"/>
          <p:cNvSpPr>
            <a:spLocks noGrp="1"/>
          </p:cNvSpPr>
          <p:nvPr>
            <p:ph type="ftr" sz="quarter" idx="3"/>
          </p:nvPr>
        </p:nvSpPr>
        <p:spPr>
          <a:xfrm>
            <a:off x="12115800" y="27120433"/>
            <a:ext cx="12344400" cy="1557867"/>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27120433"/>
            <a:ext cx="8229600" cy="1557867"/>
          </a:xfrm>
          <a:prstGeom prst="rect">
            <a:avLst/>
          </a:prstGeom>
        </p:spPr>
        <p:txBody>
          <a:bodyPr vert="horz" lIns="91440" tIns="45720" rIns="91440" bIns="45720" rtlCol="0" anchor="ctr"/>
          <a:lstStyle>
            <a:lvl1pPr algn="r">
              <a:defRPr sz="4800">
                <a:solidFill>
                  <a:schemeClr val="tx1">
                    <a:tint val="75000"/>
                  </a:schemeClr>
                </a:solidFill>
              </a:defRPr>
            </a:lvl1pPr>
          </a:lstStyle>
          <a:p>
            <a:fld id="{5B8CAC2F-9D0C-4F7D-BB46-97F5333FB40C}" type="slidenum">
              <a:rPr lang="en-US" smtClean="0"/>
              <a:t>‹#›</a:t>
            </a:fld>
            <a:endParaRPr lang="en-US"/>
          </a:p>
        </p:txBody>
      </p:sp>
    </p:spTree>
    <p:extLst>
      <p:ext uri="{BB962C8B-B14F-4D97-AF65-F5344CB8AC3E}">
        <p14:creationId xmlns:p14="http://schemas.microsoft.com/office/powerpoint/2010/main" val="32858800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D1CD9F-DACF-430D-9D3A-207905FF69FE}"/>
              </a:ext>
            </a:extLst>
          </p:cNvPr>
          <p:cNvSpPr/>
          <p:nvPr/>
        </p:nvSpPr>
        <p:spPr>
          <a:xfrm>
            <a:off x="614354" y="5151415"/>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a:p>
        </p:txBody>
      </p:sp>
      <p:sp>
        <p:nvSpPr>
          <p:cNvPr id="8" name="TextBox 7">
            <a:extLst>
              <a:ext uri="{FF2B5EF4-FFF2-40B4-BE49-F238E27FC236}">
                <a16:creationId xmlns:a16="http://schemas.microsoft.com/office/drawing/2014/main" id="{B756F6BE-2E7F-42AF-8C4F-6EC1B2E0340C}"/>
              </a:ext>
            </a:extLst>
          </p:cNvPr>
          <p:cNvSpPr txBox="1"/>
          <p:nvPr/>
        </p:nvSpPr>
        <p:spPr>
          <a:xfrm>
            <a:off x="4282184" y="5252164"/>
            <a:ext cx="10118651" cy="861774"/>
          </a:xfrm>
          <a:prstGeom prst="rect">
            <a:avLst/>
          </a:prstGeom>
          <a:noFill/>
        </p:spPr>
        <p:txBody>
          <a:bodyPr wrap="square" rtlCol="0">
            <a:spAutoFit/>
          </a:bodyPr>
          <a:lstStyle/>
          <a:p>
            <a:r>
              <a:rPr lang="en-US" sz="5000" b="1" dirty="0">
                <a:solidFill>
                  <a:schemeClr val="bg1"/>
                </a:solidFill>
                <a:latin typeface="Arial" panose="020B0604020202020204" pitchFamily="34" charset="0"/>
                <a:cs typeface="Arial" panose="020B0604020202020204" pitchFamily="34" charset="0"/>
              </a:rPr>
              <a:t>Motivation</a:t>
            </a:r>
          </a:p>
        </p:txBody>
      </p:sp>
      <p:sp>
        <p:nvSpPr>
          <p:cNvPr id="10" name="TextBox 9">
            <a:extLst>
              <a:ext uri="{FF2B5EF4-FFF2-40B4-BE49-F238E27FC236}">
                <a16:creationId xmlns:a16="http://schemas.microsoft.com/office/drawing/2014/main" id="{52E341AE-0B54-4676-80B5-20ECC3DA20DE}"/>
              </a:ext>
            </a:extLst>
          </p:cNvPr>
          <p:cNvSpPr txBox="1"/>
          <p:nvPr/>
        </p:nvSpPr>
        <p:spPr>
          <a:xfrm>
            <a:off x="833618" y="6465501"/>
            <a:ext cx="10872533" cy="3323987"/>
          </a:xfrm>
          <a:prstGeom prst="rect">
            <a:avLst/>
          </a:prstGeom>
          <a:noFill/>
        </p:spPr>
        <p:txBody>
          <a:bodyPr wrap="square" rtlCol="0">
            <a:spAutoFit/>
          </a:bodyPr>
          <a:lstStyle/>
          <a:p>
            <a:r>
              <a:rPr lang="en-CA" sz="3000" dirty="0">
                <a:latin typeface="Helvetica" pitchFamily="2" charset="0"/>
              </a:rPr>
              <a:t>The generation and classification of DNA sequences into specific gene categories is crucial in bioinformatics, impacting genetics, medicine, and biotechnology. This study uses symbolic knowledge from domain experts, using the </a:t>
            </a:r>
            <a:r>
              <a:rPr lang="en-CA" sz="3000" dirty="0" err="1">
                <a:latin typeface="Helvetica" pitchFamily="2" charset="0"/>
              </a:rPr>
              <a:t>DomiKnowS</a:t>
            </a:r>
            <a:r>
              <a:rPr lang="en-CA" sz="3000" dirty="0">
                <a:latin typeface="Helvetica" pitchFamily="2" charset="0"/>
              </a:rPr>
              <a:t> framework to integrate this knowledge into deep learning models and attempts to highlight the advantages of domain knowledge integration in machine learning.</a:t>
            </a:r>
            <a:endParaRPr lang="en-US" sz="3000" dirty="0">
              <a:latin typeface="Helvetica" pitchFamily="2" charset="0"/>
              <a:cs typeface="Arial" panose="020B0604020202020204" pitchFamily="34" charset="0"/>
            </a:endParaRPr>
          </a:p>
        </p:txBody>
      </p:sp>
      <p:sp>
        <p:nvSpPr>
          <p:cNvPr id="11" name="Rectangle 10">
            <a:extLst>
              <a:ext uri="{FF2B5EF4-FFF2-40B4-BE49-F238E27FC236}">
                <a16:creationId xmlns:a16="http://schemas.microsoft.com/office/drawing/2014/main" id="{9A7F62A1-164F-49BA-BDF3-5FEE4873FC72}"/>
              </a:ext>
            </a:extLst>
          </p:cNvPr>
          <p:cNvSpPr/>
          <p:nvPr/>
        </p:nvSpPr>
        <p:spPr>
          <a:xfrm>
            <a:off x="614354" y="10160407"/>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dirty="0"/>
          </a:p>
        </p:txBody>
      </p:sp>
      <p:sp>
        <p:nvSpPr>
          <p:cNvPr id="12" name="TextBox 11">
            <a:extLst>
              <a:ext uri="{FF2B5EF4-FFF2-40B4-BE49-F238E27FC236}">
                <a16:creationId xmlns:a16="http://schemas.microsoft.com/office/drawing/2014/main" id="{871F2D68-71CB-4F49-9085-790B3173383E}"/>
              </a:ext>
            </a:extLst>
          </p:cNvPr>
          <p:cNvSpPr txBox="1"/>
          <p:nvPr/>
        </p:nvSpPr>
        <p:spPr>
          <a:xfrm>
            <a:off x="3401759" y="10226400"/>
            <a:ext cx="10118651" cy="1631216"/>
          </a:xfrm>
          <a:prstGeom prst="rect">
            <a:avLst/>
          </a:prstGeom>
          <a:noFill/>
        </p:spPr>
        <p:txBody>
          <a:bodyPr wrap="square" rtlCol="0">
            <a:spAutoFit/>
          </a:bodyPr>
          <a:lstStyle/>
          <a:p>
            <a:r>
              <a:rPr lang="en-US" sz="5000" b="1" dirty="0">
                <a:solidFill>
                  <a:schemeClr val="bg1"/>
                </a:solidFill>
                <a:latin typeface="Arial" panose="020B0604020202020204" pitchFamily="34" charset="0"/>
                <a:cs typeface="Arial" panose="020B0604020202020204" pitchFamily="34" charset="0"/>
              </a:rPr>
              <a:t>Task Background</a:t>
            </a:r>
          </a:p>
          <a:p>
            <a:endParaRPr lang="en-US" sz="5000" b="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F4580D22-7687-4960-B912-5980CF762FC6}"/>
              </a:ext>
            </a:extLst>
          </p:cNvPr>
          <p:cNvSpPr txBox="1"/>
          <p:nvPr/>
        </p:nvSpPr>
        <p:spPr>
          <a:xfrm>
            <a:off x="801063" y="11496156"/>
            <a:ext cx="10968365" cy="4247317"/>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To model a problem in </a:t>
            </a:r>
            <a:r>
              <a:rPr lang="en-US" sz="3000" dirty="0" err="1">
                <a:latin typeface="Arial" panose="020B0604020202020204" pitchFamily="34" charset="0"/>
                <a:cs typeface="Arial" panose="020B0604020202020204" pitchFamily="34" charset="0"/>
              </a:rPr>
              <a:t>DomiKnowS</a:t>
            </a:r>
            <a:r>
              <a:rPr lang="en-US" sz="3000" dirty="0">
                <a:latin typeface="Arial" panose="020B0604020202020204" pitchFamily="34" charset="0"/>
                <a:cs typeface="Arial" panose="020B0604020202020204" pitchFamily="34" charset="0"/>
              </a:rPr>
              <a:t>, we specify the problem domain as a conceptual graph, which serves as a structured representation of domain knowledge. In this case, the graph defines several concepts: the double helix structure of DNA, the nucleotide bases that it is composed of, and the categories that they can be classified into.</a:t>
            </a:r>
          </a:p>
          <a:p>
            <a:br>
              <a:rPr lang="en-US" sz="3000" dirty="0">
                <a:latin typeface="Arial" panose="020B0604020202020204" pitchFamily="34" charset="0"/>
                <a:cs typeface="Arial" panose="020B0604020202020204" pitchFamily="34" charset="0"/>
              </a:rPr>
            </a:br>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4A8F1FAA-3837-4D00-AB59-D948BF31DC59}"/>
              </a:ext>
            </a:extLst>
          </p:cNvPr>
          <p:cNvSpPr/>
          <p:nvPr/>
        </p:nvSpPr>
        <p:spPr>
          <a:xfrm>
            <a:off x="24667435" y="5137326"/>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a:p>
        </p:txBody>
      </p:sp>
      <p:sp>
        <p:nvSpPr>
          <p:cNvPr id="25" name="TextBox 24">
            <a:extLst>
              <a:ext uri="{FF2B5EF4-FFF2-40B4-BE49-F238E27FC236}">
                <a16:creationId xmlns:a16="http://schemas.microsoft.com/office/drawing/2014/main" id="{BD4A81E9-8236-4E3F-977C-D45DBCC2CF9B}"/>
              </a:ext>
            </a:extLst>
          </p:cNvPr>
          <p:cNvSpPr txBox="1"/>
          <p:nvPr/>
        </p:nvSpPr>
        <p:spPr>
          <a:xfrm>
            <a:off x="25892180" y="5240438"/>
            <a:ext cx="10118651" cy="861774"/>
          </a:xfrm>
          <a:prstGeom prst="rect">
            <a:avLst/>
          </a:prstGeom>
          <a:noFill/>
        </p:spPr>
        <p:txBody>
          <a:bodyPr wrap="square" rtlCol="0">
            <a:spAutoFit/>
          </a:bodyPr>
          <a:lstStyle/>
          <a:p>
            <a:r>
              <a:rPr lang="en-US" sz="5000" b="1" dirty="0">
                <a:solidFill>
                  <a:schemeClr val="bg1"/>
                </a:solidFill>
                <a:latin typeface="Arial" panose="020B0604020202020204" pitchFamily="34" charset="0"/>
                <a:cs typeface="Arial" panose="020B0604020202020204" pitchFamily="34" charset="0"/>
              </a:rPr>
              <a:t>Inference and Optimization</a:t>
            </a:r>
          </a:p>
        </p:txBody>
      </p:sp>
      <p:sp>
        <p:nvSpPr>
          <p:cNvPr id="27" name="Rectangle 26">
            <a:extLst>
              <a:ext uri="{FF2B5EF4-FFF2-40B4-BE49-F238E27FC236}">
                <a16:creationId xmlns:a16="http://schemas.microsoft.com/office/drawing/2014/main" id="{B35F0953-8F86-48B3-9789-57C63B3985DC}"/>
              </a:ext>
            </a:extLst>
          </p:cNvPr>
          <p:cNvSpPr/>
          <p:nvPr/>
        </p:nvSpPr>
        <p:spPr>
          <a:xfrm>
            <a:off x="24658067" y="11391186"/>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a:p>
        </p:txBody>
      </p:sp>
      <p:sp>
        <p:nvSpPr>
          <p:cNvPr id="28" name="TextBox 27">
            <a:extLst>
              <a:ext uri="{FF2B5EF4-FFF2-40B4-BE49-F238E27FC236}">
                <a16:creationId xmlns:a16="http://schemas.microsoft.com/office/drawing/2014/main" id="{C6BA5B0B-BED7-4A21-B52F-D03273313F73}"/>
              </a:ext>
            </a:extLst>
          </p:cNvPr>
          <p:cNvSpPr txBox="1"/>
          <p:nvPr/>
        </p:nvSpPr>
        <p:spPr>
          <a:xfrm>
            <a:off x="28114916" y="11419033"/>
            <a:ext cx="10118651" cy="861774"/>
          </a:xfrm>
          <a:prstGeom prst="rect">
            <a:avLst/>
          </a:prstGeom>
          <a:noFill/>
        </p:spPr>
        <p:txBody>
          <a:bodyPr wrap="square" rtlCol="0">
            <a:spAutoFit/>
          </a:bodyPr>
          <a:lstStyle/>
          <a:p>
            <a:r>
              <a:rPr lang="en-US" sz="5000" b="1" dirty="0">
                <a:solidFill>
                  <a:schemeClr val="bg1"/>
                </a:solidFill>
                <a:latin typeface="Arial" panose="020B0604020202020204" pitchFamily="34" charset="0"/>
                <a:cs typeface="Arial" panose="020B0604020202020204" pitchFamily="34" charset="0"/>
              </a:rPr>
              <a:t>Evaluation</a:t>
            </a:r>
          </a:p>
        </p:txBody>
      </p:sp>
      <p:sp>
        <p:nvSpPr>
          <p:cNvPr id="32" name="TextBox 31">
            <a:extLst>
              <a:ext uri="{FF2B5EF4-FFF2-40B4-BE49-F238E27FC236}">
                <a16:creationId xmlns:a16="http://schemas.microsoft.com/office/drawing/2014/main" id="{9DB23C59-FCDB-41A8-9621-5BEB6F26255D}"/>
              </a:ext>
            </a:extLst>
          </p:cNvPr>
          <p:cNvSpPr txBox="1"/>
          <p:nvPr/>
        </p:nvSpPr>
        <p:spPr>
          <a:xfrm rot="19506631">
            <a:off x="13503926" y="9471718"/>
            <a:ext cx="9657907" cy="1567032"/>
          </a:xfrm>
          <a:prstGeom prst="rect">
            <a:avLst/>
          </a:prstGeom>
          <a:noFill/>
        </p:spPr>
        <p:txBody>
          <a:bodyPr wrap="square" rtlCol="0">
            <a:spAutoFit/>
          </a:bodyPr>
          <a:lstStyle/>
          <a:p>
            <a:pPr algn="ctr"/>
            <a:r>
              <a:rPr lang="en-US" sz="9583" dirty="0">
                <a:solidFill>
                  <a:schemeClr val="bg1"/>
                </a:solidFill>
                <a:latin typeface="Arial" panose="020B0604020202020204" pitchFamily="34" charset="0"/>
                <a:cs typeface="Arial" panose="020B0604020202020204" pitchFamily="34" charset="0"/>
              </a:rPr>
              <a:t>Image 1</a:t>
            </a:r>
            <a:endParaRPr lang="en-US" sz="1286" dirty="0"/>
          </a:p>
        </p:txBody>
      </p:sp>
      <p:sp>
        <p:nvSpPr>
          <p:cNvPr id="33" name="TextBox 32">
            <a:extLst>
              <a:ext uri="{FF2B5EF4-FFF2-40B4-BE49-F238E27FC236}">
                <a16:creationId xmlns:a16="http://schemas.microsoft.com/office/drawing/2014/main" id="{A5BE7B5B-35E0-4068-8476-9E840D1C4B5E}"/>
              </a:ext>
            </a:extLst>
          </p:cNvPr>
          <p:cNvSpPr txBox="1"/>
          <p:nvPr/>
        </p:nvSpPr>
        <p:spPr>
          <a:xfrm rot="19506631">
            <a:off x="13278904" y="19751612"/>
            <a:ext cx="9657907" cy="1567032"/>
          </a:xfrm>
          <a:prstGeom prst="rect">
            <a:avLst/>
          </a:prstGeom>
          <a:noFill/>
        </p:spPr>
        <p:txBody>
          <a:bodyPr wrap="square" rtlCol="0">
            <a:spAutoFit/>
          </a:bodyPr>
          <a:lstStyle/>
          <a:p>
            <a:pPr algn="ctr"/>
            <a:r>
              <a:rPr lang="en-US" sz="9583" dirty="0">
                <a:solidFill>
                  <a:schemeClr val="bg1"/>
                </a:solidFill>
                <a:latin typeface="Arial" panose="020B0604020202020204" pitchFamily="34" charset="0"/>
                <a:cs typeface="Arial" panose="020B0604020202020204" pitchFamily="34" charset="0"/>
              </a:rPr>
              <a:t>Image 2</a:t>
            </a:r>
            <a:endParaRPr lang="en-US" sz="1286" dirty="0"/>
          </a:p>
        </p:txBody>
      </p:sp>
      <p:sp>
        <p:nvSpPr>
          <p:cNvPr id="2" name="Rectangle 1">
            <a:extLst>
              <a:ext uri="{FF2B5EF4-FFF2-40B4-BE49-F238E27FC236}">
                <a16:creationId xmlns:a16="http://schemas.microsoft.com/office/drawing/2014/main" id="{A21419D9-FE25-3E41-96E6-F57DAF3F1E58}"/>
              </a:ext>
            </a:extLst>
          </p:cNvPr>
          <p:cNvSpPr/>
          <p:nvPr/>
        </p:nvSpPr>
        <p:spPr>
          <a:xfrm flipV="1">
            <a:off x="621837" y="1408243"/>
            <a:ext cx="35035763" cy="3105737"/>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dirty="0"/>
          </a:p>
        </p:txBody>
      </p:sp>
      <p:pic>
        <p:nvPicPr>
          <p:cNvPr id="14" name="Picture 13" descr="A black and white logo&#10;&#10;Description automatically generated">
            <a:extLst>
              <a:ext uri="{FF2B5EF4-FFF2-40B4-BE49-F238E27FC236}">
                <a16:creationId xmlns:a16="http://schemas.microsoft.com/office/drawing/2014/main" id="{947B65ED-090C-8A45-BFB5-FBB177993A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17435" y="2723932"/>
            <a:ext cx="5212547" cy="1588607"/>
          </a:xfrm>
          <a:prstGeom prst="rect">
            <a:avLst/>
          </a:prstGeom>
        </p:spPr>
      </p:pic>
      <p:sp>
        <p:nvSpPr>
          <p:cNvPr id="19" name="TextBox 18">
            <a:extLst>
              <a:ext uri="{FF2B5EF4-FFF2-40B4-BE49-F238E27FC236}">
                <a16:creationId xmlns:a16="http://schemas.microsoft.com/office/drawing/2014/main" id="{32DDA413-65F3-6E46-B3CC-6F2F460C467B}"/>
              </a:ext>
            </a:extLst>
          </p:cNvPr>
          <p:cNvSpPr txBox="1"/>
          <p:nvPr/>
        </p:nvSpPr>
        <p:spPr>
          <a:xfrm>
            <a:off x="1150682" y="1778824"/>
            <a:ext cx="34621419" cy="938719"/>
          </a:xfrm>
          <a:prstGeom prst="rect">
            <a:avLst/>
          </a:prstGeom>
          <a:noFill/>
        </p:spPr>
        <p:txBody>
          <a:bodyPr wrap="square" rtlCol="0">
            <a:spAutoFit/>
          </a:bodyPr>
          <a:lstStyle/>
          <a:p>
            <a:r>
              <a:rPr lang="en-US" sz="5500" b="1" dirty="0">
                <a:solidFill>
                  <a:schemeClr val="bg1"/>
                </a:solidFill>
                <a:latin typeface="Helvetica" pitchFamily="2" charset="0"/>
              </a:rPr>
              <a:t>DNA Sequence Generation and Classification with Symbolic Domain Knowledge Using </a:t>
            </a:r>
            <a:r>
              <a:rPr lang="en-US" sz="5500" b="1" dirty="0" err="1">
                <a:solidFill>
                  <a:schemeClr val="bg1"/>
                </a:solidFill>
                <a:latin typeface="Helvetica" pitchFamily="2" charset="0"/>
              </a:rPr>
              <a:t>DomiKnowS</a:t>
            </a:r>
            <a:r>
              <a:rPr lang="en-US" sz="5500" b="1" dirty="0">
                <a:solidFill>
                  <a:schemeClr val="bg1"/>
                </a:solidFill>
                <a:latin typeface="Helvetica" pitchFamily="2" charset="0"/>
              </a:rPr>
              <a:t> </a:t>
            </a:r>
          </a:p>
        </p:txBody>
      </p:sp>
      <p:sp>
        <p:nvSpPr>
          <p:cNvPr id="21" name="TextBox 20">
            <a:extLst>
              <a:ext uri="{FF2B5EF4-FFF2-40B4-BE49-F238E27FC236}">
                <a16:creationId xmlns:a16="http://schemas.microsoft.com/office/drawing/2014/main" id="{7A422EFC-075B-4545-8B7A-D63466D01FB5}"/>
              </a:ext>
            </a:extLst>
          </p:cNvPr>
          <p:cNvSpPr txBox="1"/>
          <p:nvPr/>
        </p:nvSpPr>
        <p:spPr>
          <a:xfrm flipH="1">
            <a:off x="1219204" y="2793836"/>
            <a:ext cx="24602410" cy="1220975"/>
          </a:xfrm>
          <a:prstGeom prst="rect">
            <a:avLst/>
          </a:prstGeom>
          <a:noFill/>
        </p:spPr>
        <p:txBody>
          <a:bodyPr wrap="square" rtlCol="0">
            <a:spAutoFit/>
          </a:bodyPr>
          <a:lstStyle/>
          <a:p>
            <a:r>
              <a:rPr lang="en-US" sz="3667" dirty="0" err="1">
                <a:solidFill>
                  <a:schemeClr val="bg1"/>
                </a:solidFill>
                <a:latin typeface="Helvetica" pitchFamily="2" charset="0"/>
              </a:rPr>
              <a:t>Sifatul</a:t>
            </a:r>
            <a:r>
              <a:rPr lang="en-US" sz="3667" dirty="0">
                <a:solidFill>
                  <a:schemeClr val="bg1"/>
                </a:solidFill>
                <a:latin typeface="Helvetica" pitchFamily="2" charset="0"/>
              </a:rPr>
              <a:t> </a:t>
            </a:r>
            <a:r>
              <a:rPr lang="en-US" sz="3667" dirty="0" err="1">
                <a:solidFill>
                  <a:schemeClr val="bg1"/>
                </a:solidFill>
                <a:latin typeface="Helvetica" pitchFamily="2" charset="0"/>
              </a:rPr>
              <a:t>Anindho</a:t>
            </a:r>
            <a:r>
              <a:rPr lang="en-US" sz="3667" dirty="0">
                <a:solidFill>
                  <a:schemeClr val="bg1"/>
                </a:solidFill>
                <a:latin typeface="Helvetica" pitchFamily="2" charset="0"/>
              </a:rPr>
              <a:t> and Parisa </a:t>
            </a:r>
            <a:r>
              <a:rPr lang="en-US" sz="3667" dirty="0" err="1">
                <a:solidFill>
                  <a:schemeClr val="bg1"/>
                </a:solidFill>
                <a:latin typeface="Helvetica" pitchFamily="2" charset="0"/>
              </a:rPr>
              <a:t>Kordjamshidi</a:t>
            </a:r>
            <a:endParaRPr lang="en-US" sz="3667" dirty="0">
              <a:solidFill>
                <a:schemeClr val="bg1"/>
              </a:solidFill>
              <a:latin typeface="Helvetica" pitchFamily="2" charset="0"/>
            </a:endParaRPr>
          </a:p>
          <a:p>
            <a:r>
              <a:rPr lang="en-US" sz="3667" dirty="0">
                <a:solidFill>
                  <a:schemeClr val="bg1"/>
                </a:solidFill>
                <a:latin typeface="Helvetica" pitchFamily="2" charset="0"/>
              </a:rPr>
              <a:t>Department of Computer Science and Engineering, Michigan State University</a:t>
            </a:r>
          </a:p>
        </p:txBody>
      </p:sp>
      <p:sp>
        <p:nvSpPr>
          <p:cNvPr id="3" name="Rectangle 2">
            <a:extLst>
              <a:ext uri="{FF2B5EF4-FFF2-40B4-BE49-F238E27FC236}">
                <a16:creationId xmlns:a16="http://schemas.microsoft.com/office/drawing/2014/main" id="{62D07177-6465-2B4B-A832-A0866584355C}"/>
              </a:ext>
            </a:extLst>
          </p:cNvPr>
          <p:cNvSpPr/>
          <p:nvPr/>
        </p:nvSpPr>
        <p:spPr>
          <a:xfrm>
            <a:off x="614354" y="26876318"/>
            <a:ext cx="35396477" cy="1253872"/>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86" dirty="0"/>
          </a:p>
        </p:txBody>
      </p:sp>
      <p:sp>
        <p:nvSpPr>
          <p:cNvPr id="5" name="TextBox 4">
            <a:extLst>
              <a:ext uri="{FF2B5EF4-FFF2-40B4-BE49-F238E27FC236}">
                <a16:creationId xmlns:a16="http://schemas.microsoft.com/office/drawing/2014/main" id="{23C8DEEE-E4B9-1E42-A7BC-9BED087B75DF}"/>
              </a:ext>
            </a:extLst>
          </p:cNvPr>
          <p:cNvSpPr txBox="1"/>
          <p:nvPr/>
        </p:nvSpPr>
        <p:spPr>
          <a:xfrm>
            <a:off x="965049" y="27244569"/>
            <a:ext cx="3730015" cy="605230"/>
          </a:xfrm>
          <a:prstGeom prst="rect">
            <a:avLst/>
          </a:prstGeom>
          <a:noFill/>
        </p:spPr>
        <p:txBody>
          <a:bodyPr wrap="square" rtlCol="0">
            <a:spAutoFit/>
          </a:bodyPr>
          <a:lstStyle/>
          <a:p>
            <a:r>
              <a:rPr lang="en-US" sz="3333" dirty="0">
                <a:solidFill>
                  <a:schemeClr val="bg1"/>
                </a:solidFill>
                <a:latin typeface="Helvetica" pitchFamily="2" charset="0"/>
              </a:rPr>
              <a:t>Presentation #907</a:t>
            </a:r>
          </a:p>
        </p:txBody>
      </p:sp>
      <p:sp>
        <p:nvSpPr>
          <p:cNvPr id="6" name="TextBox 5">
            <a:extLst>
              <a:ext uri="{FF2B5EF4-FFF2-40B4-BE49-F238E27FC236}">
                <a16:creationId xmlns:a16="http://schemas.microsoft.com/office/drawing/2014/main" id="{7946472E-D2A1-C441-9575-A3ECD9877B51}"/>
              </a:ext>
            </a:extLst>
          </p:cNvPr>
          <p:cNvSpPr txBox="1"/>
          <p:nvPr/>
        </p:nvSpPr>
        <p:spPr>
          <a:xfrm>
            <a:off x="16585193" y="27200639"/>
            <a:ext cx="4615318" cy="605230"/>
          </a:xfrm>
          <a:prstGeom prst="rect">
            <a:avLst/>
          </a:prstGeom>
          <a:noFill/>
        </p:spPr>
        <p:txBody>
          <a:bodyPr wrap="square" rtlCol="0">
            <a:spAutoFit/>
          </a:bodyPr>
          <a:lstStyle/>
          <a:p>
            <a:r>
              <a:rPr lang="en-US" sz="3333" dirty="0" err="1">
                <a:solidFill>
                  <a:schemeClr val="bg1"/>
                </a:solidFill>
                <a:latin typeface="Helvetica" pitchFamily="2" charset="0"/>
              </a:rPr>
              <a:t>MidSURE</a:t>
            </a:r>
            <a:r>
              <a:rPr lang="en-US" sz="3333" dirty="0">
                <a:solidFill>
                  <a:schemeClr val="bg1"/>
                </a:solidFill>
                <a:latin typeface="Helvetica" pitchFamily="2" charset="0"/>
              </a:rPr>
              <a:t> 2024</a:t>
            </a:r>
          </a:p>
        </p:txBody>
      </p:sp>
      <p:sp>
        <p:nvSpPr>
          <p:cNvPr id="7" name="TextBox 6">
            <a:extLst>
              <a:ext uri="{FF2B5EF4-FFF2-40B4-BE49-F238E27FC236}">
                <a16:creationId xmlns:a16="http://schemas.microsoft.com/office/drawing/2014/main" id="{ED907FB8-7B05-C142-8E00-7A3C9E0810B7}"/>
              </a:ext>
            </a:extLst>
          </p:cNvPr>
          <p:cNvSpPr txBox="1"/>
          <p:nvPr/>
        </p:nvSpPr>
        <p:spPr>
          <a:xfrm>
            <a:off x="24911943" y="27262652"/>
            <a:ext cx="11591215" cy="605230"/>
          </a:xfrm>
          <a:prstGeom prst="rect">
            <a:avLst/>
          </a:prstGeom>
          <a:noFill/>
        </p:spPr>
        <p:txBody>
          <a:bodyPr wrap="square" rtlCol="0">
            <a:spAutoFit/>
          </a:bodyPr>
          <a:lstStyle/>
          <a:p>
            <a:r>
              <a:rPr lang="en-US" sz="3333" dirty="0">
                <a:solidFill>
                  <a:schemeClr val="bg1"/>
                </a:solidFill>
                <a:latin typeface="Helvetica" pitchFamily="2" charset="0"/>
              </a:rPr>
              <a:t>Contacts: </a:t>
            </a:r>
            <a:r>
              <a:rPr lang="en-US" sz="3333" dirty="0" err="1">
                <a:solidFill>
                  <a:schemeClr val="bg1"/>
                </a:solidFill>
                <a:latin typeface="Helvetica" pitchFamily="2" charset="0"/>
              </a:rPr>
              <a:t>anindhos@msu.edu</a:t>
            </a:r>
            <a:r>
              <a:rPr lang="en-US" sz="3333" dirty="0">
                <a:solidFill>
                  <a:schemeClr val="bg1"/>
                </a:solidFill>
                <a:latin typeface="Helvetica" pitchFamily="2" charset="0"/>
              </a:rPr>
              <a:t> and </a:t>
            </a:r>
            <a:r>
              <a:rPr lang="en-US" sz="3333" dirty="0" err="1">
                <a:solidFill>
                  <a:schemeClr val="bg1"/>
                </a:solidFill>
                <a:latin typeface="Helvetica" pitchFamily="2" charset="0"/>
              </a:rPr>
              <a:t>kordjams@msu.edu</a:t>
            </a:r>
            <a:endParaRPr lang="en-US" sz="3333" dirty="0">
              <a:solidFill>
                <a:schemeClr val="bg1"/>
              </a:solidFill>
              <a:latin typeface="Helvetica" pitchFamily="2" charset="0"/>
            </a:endParaRPr>
          </a:p>
        </p:txBody>
      </p:sp>
      <p:pic>
        <p:nvPicPr>
          <p:cNvPr id="17" name="Picture 16">
            <a:extLst>
              <a:ext uri="{FF2B5EF4-FFF2-40B4-BE49-F238E27FC236}">
                <a16:creationId xmlns:a16="http://schemas.microsoft.com/office/drawing/2014/main" id="{9B18CDBE-2B11-6948-8AE9-C2ECF079C4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523" y="14391714"/>
            <a:ext cx="9409874" cy="4657888"/>
          </a:xfrm>
          <a:prstGeom prst="rect">
            <a:avLst/>
          </a:prstGeom>
        </p:spPr>
      </p:pic>
      <p:sp>
        <p:nvSpPr>
          <p:cNvPr id="23" name="TextBox 22">
            <a:extLst>
              <a:ext uri="{FF2B5EF4-FFF2-40B4-BE49-F238E27FC236}">
                <a16:creationId xmlns:a16="http://schemas.microsoft.com/office/drawing/2014/main" id="{57285095-C7DE-0046-B454-E069B692E0CA}"/>
              </a:ext>
            </a:extLst>
          </p:cNvPr>
          <p:cNvSpPr txBox="1"/>
          <p:nvPr/>
        </p:nvSpPr>
        <p:spPr>
          <a:xfrm>
            <a:off x="870408" y="18876847"/>
            <a:ext cx="11039248" cy="2862322"/>
          </a:xfrm>
          <a:prstGeom prst="rect">
            <a:avLst/>
          </a:prstGeom>
          <a:noFill/>
        </p:spPr>
        <p:txBody>
          <a:bodyPr wrap="square" rtlCol="0">
            <a:spAutoFit/>
          </a:bodyPr>
          <a:lstStyle/>
          <a:p>
            <a:r>
              <a:rPr lang="en-US" sz="3000" dirty="0">
                <a:latin typeface="Helvetica" pitchFamily="2" charset="0"/>
              </a:rPr>
              <a:t>DNA sequences are governed by several rules, such as the complementary base pairing relationship and Chargaff’s parity rules. These are explicitly defined in </a:t>
            </a:r>
            <a:r>
              <a:rPr lang="en-US" sz="3000" dirty="0" err="1">
                <a:latin typeface="Helvetica" pitchFamily="2" charset="0"/>
              </a:rPr>
              <a:t>DomiKnowS’s</a:t>
            </a:r>
            <a:r>
              <a:rPr lang="en-US" sz="3000" dirty="0">
                <a:latin typeface="Helvetica" pitchFamily="2" charset="0"/>
              </a:rPr>
              <a:t> as global linear constraints.</a:t>
            </a:r>
            <a:br>
              <a:rPr lang="en-US" sz="3000" dirty="0">
                <a:latin typeface="Helvetica" pitchFamily="2" charset="0"/>
              </a:rPr>
            </a:br>
            <a:br>
              <a:rPr lang="en-US" sz="3000" dirty="0">
                <a:latin typeface="Andale Mono" panose="020B0509000000000004" pitchFamily="49" charset="0"/>
              </a:rPr>
            </a:br>
            <a:endParaRPr lang="en-US" sz="3000" dirty="0">
              <a:latin typeface="Andale Mono" panose="020B0509000000000004" pitchFamily="49" charset="0"/>
            </a:endParaRPr>
          </a:p>
        </p:txBody>
      </p:sp>
      <p:sp>
        <p:nvSpPr>
          <p:cNvPr id="35" name="TextBox 34">
            <a:extLst>
              <a:ext uri="{FF2B5EF4-FFF2-40B4-BE49-F238E27FC236}">
                <a16:creationId xmlns:a16="http://schemas.microsoft.com/office/drawing/2014/main" id="{7B6F48A8-0631-9B48-B90D-11C11EE3093E}"/>
              </a:ext>
            </a:extLst>
          </p:cNvPr>
          <p:cNvSpPr txBox="1"/>
          <p:nvPr/>
        </p:nvSpPr>
        <p:spPr>
          <a:xfrm>
            <a:off x="3677246" y="18261425"/>
            <a:ext cx="3937000" cy="348878"/>
          </a:xfrm>
          <a:prstGeom prst="rect">
            <a:avLst/>
          </a:prstGeom>
          <a:noFill/>
        </p:spPr>
        <p:txBody>
          <a:bodyPr wrap="square" rtlCol="0">
            <a:spAutoFit/>
          </a:bodyPr>
          <a:lstStyle/>
          <a:p>
            <a:r>
              <a:rPr lang="en-US" sz="1667" dirty="0">
                <a:latin typeface="Helvetica" pitchFamily="2" charset="0"/>
              </a:rPr>
              <a:t>The double helix structure of DNA</a:t>
            </a:r>
          </a:p>
        </p:txBody>
      </p:sp>
      <p:sp>
        <p:nvSpPr>
          <p:cNvPr id="36" name="Rectangle 35">
            <a:extLst>
              <a:ext uri="{FF2B5EF4-FFF2-40B4-BE49-F238E27FC236}">
                <a16:creationId xmlns:a16="http://schemas.microsoft.com/office/drawing/2014/main" id="{BCB1A1FC-7095-CC42-9542-90E043CCEB43}"/>
              </a:ext>
            </a:extLst>
          </p:cNvPr>
          <p:cNvSpPr/>
          <p:nvPr/>
        </p:nvSpPr>
        <p:spPr>
          <a:xfrm>
            <a:off x="12635080" y="5137326"/>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solidFill>
                  <a:prstClr val="white"/>
                </a:solidFill>
                <a:latin typeface="Arial" panose="020B0604020202020204" pitchFamily="34" charset="0"/>
                <a:cs typeface="Arial" panose="020B0604020202020204" pitchFamily="34" charset="0"/>
              </a:rPr>
              <a:t>Model and Dataset</a:t>
            </a:r>
            <a:endParaRPr lang="en-US" sz="1286" dirty="0"/>
          </a:p>
        </p:txBody>
      </p:sp>
      <p:sp>
        <p:nvSpPr>
          <p:cNvPr id="38" name="TextBox 37">
            <a:extLst>
              <a:ext uri="{FF2B5EF4-FFF2-40B4-BE49-F238E27FC236}">
                <a16:creationId xmlns:a16="http://schemas.microsoft.com/office/drawing/2014/main" id="{7A9FA099-62AE-3D4F-92DE-3C0277C21B12}"/>
              </a:ext>
            </a:extLst>
          </p:cNvPr>
          <p:cNvSpPr txBox="1"/>
          <p:nvPr/>
        </p:nvSpPr>
        <p:spPr>
          <a:xfrm>
            <a:off x="12608091" y="13671666"/>
            <a:ext cx="10999533" cy="3323987"/>
          </a:xfrm>
          <a:prstGeom prst="rect">
            <a:avLst/>
          </a:prstGeom>
          <a:noFill/>
        </p:spPr>
        <p:txBody>
          <a:bodyPr wrap="square">
            <a:spAutoFit/>
          </a:bodyPr>
          <a:lstStyle/>
          <a:p>
            <a:r>
              <a:rPr lang="en-US" sz="3000" dirty="0">
                <a:latin typeface="Helvetica" pitchFamily="2" charset="0"/>
              </a:rPr>
              <a:t>We use sensors and learners to gather data and interpret it within the context of the conceptual graph. Sensors are responsible for extracting relevant features from raw data, translating it into a format that the models can understand. Learners are the machine learning components that utilize this processed data to make predictions or classifications based on the defined domain knowledge.</a:t>
            </a:r>
          </a:p>
        </p:txBody>
      </p:sp>
      <p:pic>
        <p:nvPicPr>
          <p:cNvPr id="40" name="Picture 39" descr="A diagram of a dna structure&#10;&#10;Description automatically generated">
            <a:extLst>
              <a:ext uri="{FF2B5EF4-FFF2-40B4-BE49-F238E27FC236}">
                <a16:creationId xmlns:a16="http://schemas.microsoft.com/office/drawing/2014/main" id="{89763E72-941B-2D49-9814-BB4868511D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78116" y="6733428"/>
            <a:ext cx="8490175" cy="5653112"/>
          </a:xfrm>
          <a:prstGeom prst="rect">
            <a:avLst/>
          </a:prstGeom>
        </p:spPr>
      </p:pic>
      <p:pic>
        <p:nvPicPr>
          <p:cNvPr id="42" name="Picture 41" descr="A diagram of a machine&#10;&#10;Description automatically generated">
            <a:extLst>
              <a:ext uri="{FF2B5EF4-FFF2-40B4-BE49-F238E27FC236}">
                <a16:creationId xmlns:a16="http://schemas.microsoft.com/office/drawing/2014/main" id="{33DC835B-BFFF-C841-943E-C4560C41EC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34790" y="17183665"/>
            <a:ext cx="7529356" cy="5152230"/>
          </a:xfrm>
          <a:prstGeom prst="rect">
            <a:avLst/>
          </a:prstGeom>
        </p:spPr>
      </p:pic>
      <p:sp>
        <p:nvSpPr>
          <p:cNvPr id="44" name="TextBox 43">
            <a:extLst>
              <a:ext uri="{FF2B5EF4-FFF2-40B4-BE49-F238E27FC236}">
                <a16:creationId xmlns:a16="http://schemas.microsoft.com/office/drawing/2014/main" id="{1ACDE4C0-25E3-2648-AFC5-0FCCF3FB4C12}"/>
              </a:ext>
            </a:extLst>
          </p:cNvPr>
          <p:cNvSpPr txBox="1"/>
          <p:nvPr/>
        </p:nvSpPr>
        <p:spPr>
          <a:xfrm>
            <a:off x="15579955" y="22232583"/>
            <a:ext cx="4738416" cy="553998"/>
          </a:xfrm>
          <a:prstGeom prst="rect">
            <a:avLst/>
          </a:prstGeom>
          <a:noFill/>
        </p:spPr>
        <p:txBody>
          <a:bodyPr wrap="square" rtlCol="0">
            <a:spAutoFit/>
          </a:bodyPr>
          <a:lstStyle/>
          <a:p>
            <a:r>
              <a:rPr lang="en-US" sz="1500" dirty="0">
                <a:latin typeface="Helvetica" pitchFamily="2" charset="0"/>
              </a:rPr>
              <a:t>LSTM cells: a popular learning </a:t>
            </a:r>
            <a:r>
              <a:rPr lang="en-US" sz="1286" dirty="0">
                <a:latin typeface="Helvetica" pitchFamily="2" charset="0"/>
              </a:rPr>
              <a:t>unit </a:t>
            </a:r>
            <a:r>
              <a:rPr lang="en-US" sz="1500" dirty="0">
                <a:latin typeface="Helvetica" pitchFamily="2" charset="0"/>
              </a:rPr>
              <a:t>for sequence classification</a:t>
            </a:r>
          </a:p>
        </p:txBody>
      </p:sp>
      <p:sp>
        <p:nvSpPr>
          <p:cNvPr id="45" name="TextBox 44">
            <a:extLst>
              <a:ext uri="{FF2B5EF4-FFF2-40B4-BE49-F238E27FC236}">
                <a16:creationId xmlns:a16="http://schemas.microsoft.com/office/drawing/2014/main" id="{8EAAA906-B0F8-504F-BCCB-E052142364FB}"/>
              </a:ext>
            </a:extLst>
          </p:cNvPr>
          <p:cNvSpPr txBox="1"/>
          <p:nvPr/>
        </p:nvSpPr>
        <p:spPr>
          <a:xfrm>
            <a:off x="15206813" y="12783937"/>
            <a:ext cx="5647765" cy="290208"/>
          </a:xfrm>
          <a:prstGeom prst="rect">
            <a:avLst/>
          </a:prstGeom>
          <a:noFill/>
        </p:spPr>
        <p:txBody>
          <a:bodyPr wrap="square" rtlCol="0">
            <a:spAutoFit/>
          </a:bodyPr>
          <a:lstStyle/>
          <a:p>
            <a:r>
              <a:rPr lang="en-CA" sz="1286" dirty="0">
                <a:latin typeface="Helvetica" pitchFamily="2" charset="0"/>
              </a:rPr>
              <a:t>Knowledge graph of DNA structure generated in </a:t>
            </a:r>
            <a:r>
              <a:rPr lang="en-CA" sz="1286" dirty="0" err="1">
                <a:latin typeface="Helvetica" pitchFamily="2" charset="0"/>
              </a:rPr>
              <a:t>DomiKnowS</a:t>
            </a:r>
            <a:endParaRPr lang="en-US" sz="1286" dirty="0">
              <a:latin typeface="Helvetica" pitchFamily="2" charset="0"/>
            </a:endParaRPr>
          </a:p>
        </p:txBody>
      </p:sp>
      <p:sp>
        <p:nvSpPr>
          <p:cNvPr id="46" name="Rectangle 45">
            <a:extLst>
              <a:ext uri="{FF2B5EF4-FFF2-40B4-BE49-F238E27FC236}">
                <a16:creationId xmlns:a16="http://schemas.microsoft.com/office/drawing/2014/main" id="{74CCECAD-329E-2441-8C51-350542CB5532}"/>
              </a:ext>
            </a:extLst>
          </p:cNvPr>
          <p:cNvSpPr/>
          <p:nvPr/>
        </p:nvSpPr>
        <p:spPr>
          <a:xfrm>
            <a:off x="24658067" y="22000389"/>
            <a:ext cx="10999533" cy="1010093"/>
          </a:xfrm>
          <a:prstGeom prst="rect">
            <a:avLst/>
          </a:prstGeom>
          <a:solidFill>
            <a:srgbClr val="1845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defRPr/>
            </a:pPr>
            <a:r>
              <a:rPr lang="en-US" sz="5000" b="1" dirty="0">
                <a:solidFill>
                  <a:prstClr val="white"/>
                </a:solidFill>
                <a:latin typeface="Arial" panose="020B0604020202020204" pitchFamily="34" charset="0"/>
                <a:cs typeface="Arial" panose="020B0604020202020204" pitchFamily="34" charset="0"/>
              </a:rPr>
              <a:t>References</a:t>
            </a:r>
          </a:p>
          <a:p>
            <a:pPr algn="ctr"/>
            <a:endParaRPr lang="en-US" sz="1286" dirty="0"/>
          </a:p>
        </p:txBody>
      </p:sp>
      <p:sp>
        <p:nvSpPr>
          <p:cNvPr id="47" name="TextBox 46">
            <a:extLst>
              <a:ext uri="{FF2B5EF4-FFF2-40B4-BE49-F238E27FC236}">
                <a16:creationId xmlns:a16="http://schemas.microsoft.com/office/drawing/2014/main" id="{84BC392B-DF41-C54F-A0C1-671714AC1E4A}"/>
              </a:ext>
            </a:extLst>
          </p:cNvPr>
          <p:cNvSpPr txBox="1"/>
          <p:nvPr/>
        </p:nvSpPr>
        <p:spPr>
          <a:xfrm>
            <a:off x="12530929" y="23278995"/>
            <a:ext cx="10999533" cy="2400657"/>
          </a:xfrm>
          <a:prstGeom prst="rect">
            <a:avLst/>
          </a:prstGeom>
          <a:noFill/>
        </p:spPr>
        <p:txBody>
          <a:bodyPr wrap="square" rtlCol="0">
            <a:spAutoFit/>
          </a:bodyPr>
          <a:lstStyle/>
          <a:p>
            <a:pPr>
              <a:defRPr/>
            </a:pPr>
            <a:r>
              <a:rPr lang="en-US" sz="3000" dirty="0">
                <a:solidFill>
                  <a:prstClr val="black"/>
                </a:solidFill>
                <a:latin typeface="Helvetica" pitchFamily="2" charset="0"/>
              </a:rPr>
              <a:t>The learning model is a multi-layer long short-term memory (LSTM) network which is designed to learn sequential data. We stack multiple LSTM layers and attach them to the knowledge graph prior to training. Model is then trained on the human genome sequence dataset imported from Kaggle.</a:t>
            </a:r>
            <a:endParaRPr lang="en-US" sz="1286" dirty="0"/>
          </a:p>
        </p:txBody>
      </p:sp>
      <p:pic>
        <p:nvPicPr>
          <p:cNvPr id="15" name="Picture 14" descr="A diagram of different types of chemical formulas&#10;&#10;Description automatically generated">
            <a:extLst>
              <a:ext uri="{FF2B5EF4-FFF2-40B4-BE49-F238E27FC236}">
                <a16:creationId xmlns:a16="http://schemas.microsoft.com/office/drawing/2014/main" id="{B41097A5-36E7-B34A-ACD0-25CE773D7F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4217" y="21015030"/>
            <a:ext cx="8306459" cy="4340794"/>
          </a:xfrm>
          <a:prstGeom prst="rect">
            <a:avLst/>
          </a:prstGeom>
        </p:spPr>
      </p:pic>
      <p:sp>
        <p:nvSpPr>
          <p:cNvPr id="37" name="TextBox 36">
            <a:extLst>
              <a:ext uri="{FF2B5EF4-FFF2-40B4-BE49-F238E27FC236}">
                <a16:creationId xmlns:a16="http://schemas.microsoft.com/office/drawing/2014/main" id="{3FA7E98D-1D46-454A-A74C-0875F7709EE5}"/>
              </a:ext>
            </a:extLst>
          </p:cNvPr>
          <p:cNvSpPr txBox="1"/>
          <p:nvPr/>
        </p:nvSpPr>
        <p:spPr>
          <a:xfrm>
            <a:off x="4768604" y="25643876"/>
            <a:ext cx="3937000" cy="348878"/>
          </a:xfrm>
          <a:prstGeom prst="rect">
            <a:avLst/>
          </a:prstGeom>
          <a:noFill/>
        </p:spPr>
        <p:txBody>
          <a:bodyPr wrap="square" rtlCol="0">
            <a:spAutoFit/>
          </a:bodyPr>
          <a:lstStyle/>
          <a:p>
            <a:r>
              <a:rPr lang="en-US" sz="1667" dirty="0">
                <a:latin typeface="Helvetica" pitchFamily="2" charset="0"/>
              </a:rPr>
              <a:t>Chargaff’s parity rules</a:t>
            </a:r>
          </a:p>
        </p:txBody>
      </p:sp>
      <p:sp>
        <p:nvSpPr>
          <p:cNvPr id="39" name="TextBox 38">
            <a:extLst>
              <a:ext uri="{FF2B5EF4-FFF2-40B4-BE49-F238E27FC236}">
                <a16:creationId xmlns:a16="http://schemas.microsoft.com/office/drawing/2014/main" id="{5362A49B-EF5B-2B4B-9F39-978F4195579A}"/>
              </a:ext>
            </a:extLst>
          </p:cNvPr>
          <p:cNvSpPr txBox="1"/>
          <p:nvPr/>
        </p:nvSpPr>
        <p:spPr>
          <a:xfrm>
            <a:off x="24815077" y="6544871"/>
            <a:ext cx="10999533" cy="3323987"/>
          </a:xfrm>
          <a:prstGeom prst="rect">
            <a:avLst/>
          </a:prstGeom>
          <a:noFill/>
        </p:spPr>
        <p:txBody>
          <a:bodyPr wrap="square">
            <a:spAutoFit/>
          </a:bodyPr>
          <a:lstStyle/>
          <a:p>
            <a:r>
              <a:rPr lang="en-CA" sz="3000" dirty="0">
                <a:latin typeface="Helvetica" pitchFamily="2" charset="0"/>
              </a:rPr>
              <a:t>During the inference phase, the model processes DNA sequences to classify them into specific gene categories. We adjust its parameters to minimize the error between predicted and actual gene categories based on the constraints and relationships defined in the knowledge graph using Integer Linear Programming (ILP) solvers.</a:t>
            </a:r>
            <a:br>
              <a:rPr lang="en-CA" sz="3000" dirty="0">
                <a:latin typeface="Helvetica" pitchFamily="2" charset="0"/>
              </a:rPr>
            </a:br>
            <a:endParaRPr lang="en-US" sz="3000" dirty="0">
              <a:latin typeface="Helvetica" pitchFamily="2" charset="0"/>
            </a:endParaRPr>
          </a:p>
        </p:txBody>
      </p:sp>
      <p:sp>
        <p:nvSpPr>
          <p:cNvPr id="43" name="TextBox 42">
            <a:extLst>
              <a:ext uri="{FF2B5EF4-FFF2-40B4-BE49-F238E27FC236}">
                <a16:creationId xmlns:a16="http://schemas.microsoft.com/office/drawing/2014/main" id="{A8770A7E-4591-8D48-801A-091354695621}"/>
              </a:ext>
            </a:extLst>
          </p:cNvPr>
          <p:cNvSpPr txBox="1"/>
          <p:nvPr/>
        </p:nvSpPr>
        <p:spPr>
          <a:xfrm>
            <a:off x="24910565" y="23434355"/>
            <a:ext cx="10999533" cy="2862322"/>
          </a:xfrm>
          <a:prstGeom prst="rect">
            <a:avLst/>
          </a:prstGeom>
          <a:noFill/>
        </p:spPr>
        <p:txBody>
          <a:bodyPr wrap="square">
            <a:spAutoFit/>
          </a:bodyPr>
          <a:lstStyle/>
          <a:p>
            <a:r>
              <a:rPr lang="en-US" sz="3000" dirty="0">
                <a:latin typeface="Helvetica" pitchFamily="2" charset="0"/>
              </a:rPr>
              <a:t>[1] H. R. </a:t>
            </a:r>
            <a:r>
              <a:rPr lang="en-US" sz="3000" dirty="0" err="1">
                <a:latin typeface="Helvetica" pitchFamily="2" charset="0"/>
              </a:rPr>
              <a:t>Faghihi</a:t>
            </a:r>
            <a:r>
              <a:rPr lang="en-US" sz="3000" dirty="0">
                <a:latin typeface="Helvetica" pitchFamily="2" charset="0"/>
              </a:rPr>
              <a:t>, Q. Guo, A. </a:t>
            </a:r>
            <a:r>
              <a:rPr lang="en-US" sz="3000" dirty="0" err="1">
                <a:latin typeface="Helvetica" pitchFamily="2" charset="0"/>
              </a:rPr>
              <a:t>Uszok</a:t>
            </a:r>
            <a:r>
              <a:rPr lang="en-US" sz="3000" dirty="0">
                <a:latin typeface="Helvetica" pitchFamily="2" charset="0"/>
              </a:rPr>
              <a:t>, A. </a:t>
            </a:r>
            <a:r>
              <a:rPr lang="en-US" sz="3000" dirty="0" err="1">
                <a:latin typeface="Helvetica" pitchFamily="2" charset="0"/>
              </a:rPr>
              <a:t>Nafar</a:t>
            </a:r>
            <a:r>
              <a:rPr lang="en-US" sz="3000" dirty="0">
                <a:latin typeface="Helvetica" pitchFamily="2" charset="0"/>
              </a:rPr>
              <a:t>, E. </a:t>
            </a:r>
            <a:r>
              <a:rPr lang="en-US" sz="3000" dirty="0" err="1">
                <a:latin typeface="Helvetica" pitchFamily="2" charset="0"/>
              </a:rPr>
              <a:t>Raisi</a:t>
            </a:r>
            <a:r>
              <a:rPr lang="en-US" sz="3000" dirty="0">
                <a:latin typeface="Helvetica" pitchFamily="2" charset="0"/>
              </a:rPr>
              <a:t>, and P. </a:t>
            </a:r>
            <a:r>
              <a:rPr lang="en-US" sz="3000" dirty="0" err="1">
                <a:latin typeface="Helvetica" pitchFamily="2" charset="0"/>
              </a:rPr>
              <a:t>Kordjamshidi</a:t>
            </a:r>
            <a:r>
              <a:rPr lang="en-US" sz="3000" dirty="0">
                <a:latin typeface="Helvetica" pitchFamily="2" charset="0"/>
              </a:rPr>
              <a:t>, ‘</a:t>
            </a:r>
            <a:r>
              <a:rPr lang="en-US" sz="3000" dirty="0" err="1">
                <a:latin typeface="Helvetica" pitchFamily="2" charset="0"/>
              </a:rPr>
              <a:t>DomiKnowS</a:t>
            </a:r>
            <a:r>
              <a:rPr lang="en-US" sz="3000" dirty="0">
                <a:latin typeface="Helvetica" pitchFamily="2" charset="0"/>
              </a:rPr>
              <a:t>: A Library for Integration of Symbolic Domain Knowledge in Deep Learning’, </a:t>
            </a:r>
            <a:r>
              <a:rPr lang="en-US" sz="3000" dirty="0" err="1">
                <a:latin typeface="Helvetica" pitchFamily="2" charset="0"/>
              </a:rPr>
              <a:t>arXiv</a:t>
            </a:r>
            <a:r>
              <a:rPr lang="en-US" sz="3000" dirty="0">
                <a:latin typeface="Helvetica" pitchFamily="2" charset="0"/>
              </a:rPr>
              <a:t> [</a:t>
            </a:r>
            <a:r>
              <a:rPr lang="en-US" sz="3000" dirty="0" err="1">
                <a:latin typeface="Helvetica" pitchFamily="2" charset="0"/>
              </a:rPr>
              <a:t>cs.LG</a:t>
            </a:r>
            <a:r>
              <a:rPr lang="en-US" sz="3000" dirty="0">
                <a:latin typeface="Helvetica" pitchFamily="2" charset="0"/>
              </a:rPr>
              <a:t>]. 2021.</a:t>
            </a:r>
          </a:p>
          <a:p>
            <a:r>
              <a:rPr lang="en-US" sz="3000" dirty="0">
                <a:latin typeface="Helvetica" pitchFamily="2" charset="0"/>
              </a:rPr>
              <a:t>[2] H. R. </a:t>
            </a:r>
            <a:r>
              <a:rPr lang="en-US" sz="3000" dirty="0" err="1">
                <a:latin typeface="Helvetica" pitchFamily="2" charset="0"/>
              </a:rPr>
              <a:t>Faghihi</a:t>
            </a:r>
            <a:r>
              <a:rPr lang="en-US" sz="3000" dirty="0">
                <a:latin typeface="Helvetica" pitchFamily="2" charset="0"/>
              </a:rPr>
              <a:t> et al., ‘</a:t>
            </a:r>
            <a:r>
              <a:rPr lang="en-US" sz="3000" dirty="0" err="1">
                <a:latin typeface="Helvetica" pitchFamily="2" charset="0"/>
              </a:rPr>
              <a:t>GLUECons</a:t>
            </a:r>
            <a:r>
              <a:rPr lang="en-US" sz="3000" dirty="0">
                <a:latin typeface="Helvetica" pitchFamily="2" charset="0"/>
              </a:rPr>
              <a:t>: A Generic Benchmark for Learning Under Constraints’, </a:t>
            </a:r>
            <a:r>
              <a:rPr lang="en-US" sz="3000" dirty="0" err="1">
                <a:latin typeface="Helvetica" pitchFamily="2" charset="0"/>
              </a:rPr>
              <a:t>arXiv</a:t>
            </a:r>
            <a:r>
              <a:rPr lang="en-US" sz="3000" dirty="0">
                <a:latin typeface="Helvetica" pitchFamily="2" charset="0"/>
              </a:rPr>
              <a:t> [</a:t>
            </a:r>
            <a:r>
              <a:rPr lang="en-US" sz="3000" dirty="0" err="1">
                <a:latin typeface="Helvetica" pitchFamily="2" charset="0"/>
              </a:rPr>
              <a:t>cs.LG</a:t>
            </a:r>
            <a:r>
              <a:rPr lang="en-US" sz="3000" dirty="0">
                <a:latin typeface="Helvetica" pitchFamily="2" charset="0"/>
              </a:rPr>
              <a:t>]. 2023.</a:t>
            </a:r>
          </a:p>
          <a:p>
            <a:endParaRPr lang="en-US" sz="3000" dirty="0">
              <a:latin typeface="Helvetica" pitchFamily="2" charset="0"/>
            </a:endParaRPr>
          </a:p>
        </p:txBody>
      </p:sp>
      <p:sp>
        <p:nvSpPr>
          <p:cNvPr id="41" name="TextBox 40">
            <a:extLst>
              <a:ext uri="{FF2B5EF4-FFF2-40B4-BE49-F238E27FC236}">
                <a16:creationId xmlns:a16="http://schemas.microsoft.com/office/drawing/2014/main" id="{ACA5A647-7D96-5742-A4FC-5B9E82D30602}"/>
              </a:ext>
            </a:extLst>
          </p:cNvPr>
          <p:cNvSpPr txBox="1"/>
          <p:nvPr/>
        </p:nvSpPr>
        <p:spPr>
          <a:xfrm>
            <a:off x="24815076" y="12871619"/>
            <a:ext cx="10999533" cy="2400657"/>
          </a:xfrm>
          <a:prstGeom prst="rect">
            <a:avLst/>
          </a:prstGeom>
          <a:noFill/>
        </p:spPr>
        <p:txBody>
          <a:bodyPr wrap="square">
            <a:spAutoFit/>
          </a:bodyPr>
          <a:lstStyle/>
          <a:p>
            <a:r>
              <a:rPr lang="en-CA" sz="3000" dirty="0">
                <a:latin typeface="Helvetica" pitchFamily="2" charset="0"/>
              </a:rPr>
              <a:t>To evaluate how well the </a:t>
            </a:r>
            <a:r>
              <a:rPr lang="en-CA" sz="3000" dirty="0" err="1">
                <a:latin typeface="Helvetica" pitchFamily="2" charset="0"/>
              </a:rPr>
              <a:t>DomiKnowS</a:t>
            </a:r>
            <a:r>
              <a:rPr lang="en-CA" sz="3000" dirty="0">
                <a:latin typeface="Helvetica" pitchFamily="2" charset="0"/>
              </a:rPr>
              <a:t> model learned this task, we ran the same task on a baseline LSTM without domain integration, and compared the outcomes. We focused on key performance metrics such as accuracy, precision, recall, and weighted F1 scores to make this comparison.</a:t>
            </a:r>
            <a:endParaRPr lang="en-US" sz="3000" dirty="0">
              <a:latin typeface="Helvetica" pitchFamily="2" charset="0"/>
            </a:endParaRPr>
          </a:p>
        </p:txBody>
      </p:sp>
      <p:sp>
        <p:nvSpPr>
          <p:cNvPr id="48" name="TextBox 47">
            <a:extLst>
              <a:ext uri="{FF2B5EF4-FFF2-40B4-BE49-F238E27FC236}">
                <a16:creationId xmlns:a16="http://schemas.microsoft.com/office/drawing/2014/main" id="{04EE60FB-89FB-4043-A7B4-BED7725A2487}"/>
              </a:ext>
            </a:extLst>
          </p:cNvPr>
          <p:cNvSpPr txBox="1"/>
          <p:nvPr/>
        </p:nvSpPr>
        <p:spPr>
          <a:xfrm>
            <a:off x="24815076" y="20043330"/>
            <a:ext cx="10999533" cy="1477328"/>
          </a:xfrm>
          <a:prstGeom prst="rect">
            <a:avLst/>
          </a:prstGeom>
          <a:noFill/>
        </p:spPr>
        <p:txBody>
          <a:bodyPr wrap="square">
            <a:spAutoFit/>
          </a:bodyPr>
          <a:lstStyle/>
          <a:p>
            <a:r>
              <a:rPr lang="en-CA" sz="3000" dirty="0">
                <a:latin typeface="Helvetica" pitchFamily="2" charset="0"/>
              </a:rPr>
              <a:t>We are expecting to see significant improvement on all four of these metrics once the study is complete, especially when the size of the available training data is scaled down.</a:t>
            </a:r>
            <a:endParaRPr lang="en-US" sz="3000" dirty="0">
              <a:latin typeface="Helvetica" pitchFamily="2" charset="0"/>
            </a:endParaRPr>
          </a:p>
        </p:txBody>
      </p:sp>
      <p:pic>
        <p:nvPicPr>
          <p:cNvPr id="16" name="Picture 15" descr="A diagram of a mathematical equation&#10;&#10;Description automatically generated">
            <a:extLst>
              <a:ext uri="{FF2B5EF4-FFF2-40B4-BE49-F238E27FC236}">
                <a16:creationId xmlns:a16="http://schemas.microsoft.com/office/drawing/2014/main" id="{2AA18DA4-EC2C-3D46-9C1B-3E7AF6D48A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93635" y="15922633"/>
            <a:ext cx="11617196" cy="3252815"/>
          </a:xfrm>
          <a:prstGeom prst="rect">
            <a:avLst/>
          </a:prstGeom>
        </p:spPr>
      </p:pic>
      <p:pic>
        <p:nvPicPr>
          <p:cNvPr id="22" name="Picture 21" descr="A math equation with black text&#10;&#10;Description automatically generated">
            <a:extLst>
              <a:ext uri="{FF2B5EF4-FFF2-40B4-BE49-F238E27FC236}">
                <a16:creationId xmlns:a16="http://schemas.microsoft.com/office/drawing/2014/main" id="{603C440E-BD5A-F848-A89D-8A5DEBFFD7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63604" y="9425077"/>
            <a:ext cx="7307663" cy="1840862"/>
          </a:xfrm>
          <a:prstGeom prst="rect">
            <a:avLst/>
          </a:prstGeom>
        </p:spPr>
      </p:pic>
    </p:spTree>
    <p:extLst>
      <p:ext uri="{BB962C8B-B14F-4D97-AF65-F5344CB8AC3E}">
        <p14:creationId xmlns:p14="http://schemas.microsoft.com/office/powerpoint/2010/main" val="744785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3755</TotalTime>
  <Words>577</Words>
  <Application>Microsoft Macintosh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Andale Mono</vt:lpstr>
      <vt:lpstr>Arial</vt:lpstr>
      <vt:lpstr>Calibri</vt:lpstr>
      <vt:lpstr>Calibri Light</vt:lpstr>
      <vt:lpstr>Helvetica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Kroske, Shelby</dc:creator>
  <cp:lastModifiedBy>Anindho, Sifatul</cp:lastModifiedBy>
  <cp:revision>22</cp:revision>
  <dcterms:created xsi:type="dcterms:W3CDTF">2020-03-26T15:04:37Z</dcterms:created>
  <dcterms:modified xsi:type="dcterms:W3CDTF">2024-07-23T18:51:13Z</dcterms:modified>
</cp:coreProperties>
</file>